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ddd88e14134464" /><Relationship Type="http://schemas.openxmlformats.org/officeDocument/2006/relationships/extended-properties" Target="/docProps/app.xml" Id="R89630a5fdd0842f1" /><Relationship Type="http://schemas.openxmlformats.org/officeDocument/2006/relationships/officeDocument" Target="/ppt/presentation.xml" Id="Rd9d8ad6034824e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b3dbeb4fae4b8f"/>
  </p:sldMasterIdLst>
  <p:notesMasterIdLst>
    <p:notesMasterId xmlns:r="http://schemas.openxmlformats.org/officeDocument/2006/relationships" r:id="R184a5b0df8b741ae"/>
  </p:notesMasterIdLst>
  <p:sldIdLst>
    <p:sldId xmlns:r="http://schemas.openxmlformats.org/officeDocument/2006/relationships" id="256" r:id="Rfaa5aad67b6d4e27"/>
    <p:sldId xmlns:r="http://schemas.openxmlformats.org/officeDocument/2006/relationships" id="257" r:id="Rceaebad2e0844998"/>
    <p:sldId xmlns:r="http://schemas.openxmlformats.org/officeDocument/2006/relationships" id="258" r:id="R012dbc49b89f4011"/>
    <p:sldId xmlns:r="http://schemas.openxmlformats.org/officeDocument/2006/relationships" id="259" r:id="R6edb4601386b4188"/>
    <p:sldId xmlns:r="http://schemas.openxmlformats.org/officeDocument/2006/relationships" id="260" r:id="R30942ab0a7da4d1b"/>
    <p:sldId xmlns:r="http://schemas.openxmlformats.org/officeDocument/2006/relationships" id="261" r:id="Rea39d2ea7402400c"/>
    <p:sldId xmlns:r="http://schemas.openxmlformats.org/officeDocument/2006/relationships" id="262" r:id="R35a713fb21364a21"/>
    <p:sldId xmlns:r="http://schemas.openxmlformats.org/officeDocument/2006/relationships" id="263" r:id="Ra94356e2d16545eb"/>
    <p:sldId xmlns:r="http://schemas.openxmlformats.org/officeDocument/2006/relationships" id="264" r:id="R20e84be99ef44fa2"/>
    <p:sldId xmlns:r="http://schemas.openxmlformats.org/officeDocument/2006/relationships" id="265" r:id="Rdb139346c38a4d76"/>
    <p:sldId xmlns:r="http://schemas.openxmlformats.org/officeDocument/2006/relationships" id="266" r:id="R02935134f65a4c3f"/>
    <p:sldId xmlns:r="http://schemas.openxmlformats.org/officeDocument/2006/relationships" id="267" r:id="R2e074b77ef91431b"/>
    <p:sldId xmlns:r="http://schemas.openxmlformats.org/officeDocument/2006/relationships" id="268" r:id="Rfc6c4c945b254e23"/>
    <p:sldId xmlns:r="http://schemas.openxmlformats.org/officeDocument/2006/relationships" id="269" r:id="R30da979e24af429c"/>
    <p:sldId xmlns:r="http://schemas.openxmlformats.org/officeDocument/2006/relationships" id="270" r:id="R7338a3e479844a80"/>
    <p:sldId xmlns:r="http://schemas.openxmlformats.org/officeDocument/2006/relationships" id="271" r:id="R5a6edc0bb0ef4a50"/>
    <p:sldId xmlns:r="http://schemas.openxmlformats.org/officeDocument/2006/relationships" id="272" r:id="Rbbd82beb711646ce"/>
    <p:sldId xmlns:r="http://schemas.openxmlformats.org/officeDocument/2006/relationships" id="273" r:id="Rcd30d7e2cc9a4c53"/>
    <p:sldId xmlns:r="http://schemas.openxmlformats.org/officeDocument/2006/relationships" id="274" r:id="Ra31305f747df4eea"/>
    <p:sldId xmlns:r="http://schemas.openxmlformats.org/officeDocument/2006/relationships" id="275" r:id="R4becfaf019c544c4"/>
    <p:sldId xmlns:r="http://schemas.openxmlformats.org/officeDocument/2006/relationships" id="276" r:id="R0685e576f9ce4556"/>
    <p:sldId xmlns:r="http://schemas.openxmlformats.org/officeDocument/2006/relationships" id="277" r:id="R0840121e78434f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3dbeb4fae4b8f" /><Relationship Type="http://schemas.openxmlformats.org/officeDocument/2006/relationships/theme" Target="/ppt/theme/theme1.xml" Id="Rf27661d3a6b34845" /><Relationship Type="http://schemas.openxmlformats.org/officeDocument/2006/relationships/notesMaster" Target="/ppt/notesMasters/notesMaster1.xml" Id="R184a5b0df8b741ae" /><Relationship Type="http://schemas.openxmlformats.org/officeDocument/2006/relationships/presProps" Target="/ppt/presProps.xml" Id="R1a0f6edd29be4c9e" /><Relationship Type="http://schemas.openxmlformats.org/officeDocument/2006/relationships/viewProps" Target="/ppt/viewProps.xml" Id="R386c7352c3fd4448" /><Relationship Type="http://schemas.openxmlformats.org/officeDocument/2006/relationships/tableStyles" Target="/ppt/tableStyles.xml" Id="Rd582c9779d66415d" /><Relationship Type="http://schemas.openxmlformats.org/officeDocument/2006/relationships/slide" Target="/ppt/slides/slide1.xml" Id="Rfaa5aad67b6d4e27" /><Relationship Type="http://schemas.openxmlformats.org/officeDocument/2006/relationships/slide" Target="/ppt/slides/slide2.xml" Id="Rceaebad2e0844998" /><Relationship Type="http://schemas.openxmlformats.org/officeDocument/2006/relationships/slide" Target="/ppt/slides/slide3.xml" Id="R012dbc49b89f4011" /><Relationship Type="http://schemas.openxmlformats.org/officeDocument/2006/relationships/slide" Target="/ppt/slides/slide4.xml" Id="R6edb4601386b4188" /><Relationship Type="http://schemas.openxmlformats.org/officeDocument/2006/relationships/slide" Target="/ppt/slides/slide5.xml" Id="R30942ab0a7da4d1b" /><Relationship Type="http://schemas.openxmlformats.org/officeDocument/2006/relationships/slide" Target="/ppt/slides/slide6.xml" Id="Rea39d2ea7402400c" /><Relationship Type="http://schemas.openxmlformats.org/officeDocument/2006/relationships/slide" Target="/ppt/slides/slide7.xml" Id="R35a713fb21364a21" /><Relationship Type="http://schemas.openxmlformats.org/officeDocument/2006/relationships/slide" Target="/ppt/slides/slide8.xml" Id="Ra94356e2d16545eb" /><Relationship Type="http://schemas.openxmlformats.org/officeDocument/2006/relationships/slide" Target="/ppt/slides/slide9.xml" Id="R20e84be99ef44fa2" /><Relationship Type="http://schemas.openxmlformats.org/officeDocument/2006/relationships/slide" Target="/ppt/slides/slide10.xml" Id="Rdb139346c38a4d76" /><Relationship Type="http://schemas.openxmlformats.org/officeDocument/2006/relationships/slide" Target="/ppt/slides/slide11.xml" Id="R02935134f65a4c3f" /><Relationship Type="http://schemas.openxmlformats.org/officeDocument/2006/relationships/slide" Target="/ppt/slides/slide12.xml" Id="R2e074b77ef91431b" /><Relationship Type="http://schemas.openxmlformats.org/officeDocument/2006/relationships/slide" Target="/ppt/slides/slide13.xml" Id="Rfc6c4c945b254e23" /><Relationship Type="http://schemas.openxmlformats.org/officeDocument/2006/relationships/slide" Target="/ppt/slides/slide14.xml" Id="R30da979e24af429c" /><Relationship Type="http://schemas.openxmlformats.org/officeDocument/2006/relationships/slide" Target="/ppt/slides/slide15.xml" Id="R7338a3e479844a80" /><Relationship Type="http://schemas.openxmlformats.org/officeDocument/2006/relationships/slide" Target="/ppt/slides/slide16.xml" Id="R5a6edc0bb0ef4a50" /><Relationship Type="http://schemas.openxmlformats.org/officeDocument/2006/relationships/slide" Target="/ppt/slides/slide17.xml" Id="Rbbd82beb711646ce" /><Relationship Type="http://schemas.openxmlformats.org/officeDocument/2006/relationships/slide" Target="/ppt/slides/slide18.xml" Id="Rcd30d7e2cc9a4c53" /><Relationship Type="http://schemas.openxmlformats.org/officeDocument/2006/relationships/slide" Target="/ppt/slides/slide19.xml" Id="Ra31305f747df4eea" /><Relationship Type="http://schemas.openxmlformats.org/officeDocument/2006/relationships/slide" Target="/ppt/slides/slide20.xml" Id="R4becfaf019c544c4" /><Relationship Type="http://schemas.openxmlformats.org/officeDocument/2006/relationships/slide" Target="/ppt/slides/slide21.xml" Id="R0685e576f9ce4556" /><Relationship Type="http://schemas.openxmlformats.org/officeDocument/2006/relationships/slide" Target="/ppt/slides/slide22.xml" Id="R0840121e78434f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23eaf7307d045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VariScout Product Evaluation Accessible">
  <a:themeElements>
    <a:clrScheme name="VariScout Product Evaluation Accessible">
      <a:accent1>
        <a:srgbClr val="087C70"/>
      </a:accent1>
      <a:accent2>
        <a:srgbClr val="245FA8"/>
      </a:accent2>
      <a:accent3>
        <a:srgbClr val="B47A14"/>
      </a:accent3>
      <a:accent4>
        <a:srgbClr val="C95845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ariScout Product Evaluation Accessibl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71bc8a6a9947f7" /><Relationship Type="http://schemas.openxmlformats.org/officeDocument/2006/relationships/notesMaster" Target="/ppt/notesMasters/notesMaster1.xml" Id="R2305e64ec63942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f59710c3fc4506" /><Relationship Type="http://schemas.openxmlformats.org/officeDocument/2006/relationships/notesMaster" Target="/ppt/notesMasters/notesMaster1.xml" Id="Rcfec6ef8ff834a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6cb40ff2cd4467" /><Relationship Type="http://schemas.openxmlformats.org/officeDocument/2006/relationships/notesMaster" Target="/ppt/notesMasters/notesMaster1.xml" Id="Rd70994214d2045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be5d46634a4f9c" /><Relationship Type="http://schemas.openxmlformats.org/officeDocument/2006/relationships/notesMaster" Target="/ppt/notesMasters/notesMaster1.xml" Id="R997ab5ac229f42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b75e924e2b4283" /><Relationship Type="http://schemas.openxmlformats.org/officeDocument/2006/relationships/notesMaster" Target="/ppt/notesMasters/notesMaster1.xml" Id="R5909f9e4273d42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dfa106d148416f" /><Relationship Type="http://schemas.openxmlformats.org/officeDocument/2006/relationships/notesMaster" Target="/ppt/notesMasters/notesMaster1.xml" Id="R75e5183e27574d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67cf7875764063" /><Relationship Type="http://schemas.openxmlformats.org/officeDocument/2006/relationships/notesMaster" Target="/ppt/notesMasters/notesMaster1.xml" Id="Rf24aab653a4f43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716dcacb62462d" /><Relationship Type="http://schemas.openxmlformats.org/officeDocument/2006/relationships/notesMaster" Target="/ppt/notesMasters/notesMaster1.xml" Id="Rda0f579f5db145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cbc71f50364678" /><Relationship Type="http://schemas.openxmlformats.org/officeDocument/2006/relationships/notesMaster" Target="/ppt/notesMasters/notesMaster1.xml" Id="Rff04daf8f9b044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0f5dfbfb0d4a9c" /><Relationship Type="http://schemas.openxmlformats.org/officeDocument/2006/relationships/notesMaster" Target="/ppt/notesMasters/notesMaster1.xml" Id="R073fab5f8e2441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a19af426c24376" /><Relationship Type="http://schemas.openxmlformats.org/officeDocument/2006/relationships/notesMaster" Target="/ppt/notesMasters/notesMaster1.xml" Id="Rf818ac8f723f43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b47f086593459d" /><Relationship Type="http://schemas.openxmlformats.org/officeDocument/2006/relationships/notesMaster" Target="/ppt/notesMasters/notesMaster1.xml" Id="Ra2c9496bf6314d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2253a4613e46e4" /><Relationship Type="http://schemas.openxmlformats.org/officeDocument/2006/relationships/notesMaster" Target="/ppt/notesMasters/notesMaster1.xml" Id="R637a7892157343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6f0a683932437a" /><Relationship Type="http://schemas.openxmlformats.org/officeDocument/2006/relationships/notesMaster" Target="/ppt/notesMasters/notesMaster1.xml" Id="R1f00252942c64b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f3836139e04943" /><Relationship Type="http://schemas.openxmlformats.org/officeDocument/2006/relationships/notesMaster" Target="/ppt/notesMasters/notesMaster1.xml" Id="R921ef06a7e6b44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6211322443473b" /><Relationship Type="http://schemas.openxmlformats.org/officeDocument/2006/relationships/notesMaster" Target="/ppt/notesMasters/notesMaster1.xml" Id="R20251fee7c5246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f568192c34444c" /><Relationship Type="http://schemas.openxmlformats.org/officeDocument/2006/relationships/notesMaster" Target="/ppt/notesMasters/notesMaster1.xml" Id="R2e6088ef4f2846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373bd104ef4ade" /><Relationship Type="http://schemas.openxmlformats.org/officeDocument/2006/relationships/notesMaster" Target="/ppt/notesMasters/notesMaster1.xml" Id="Rd2c780265aac474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394ba492ab406b" /><Relationship Type="http://schemas.openxmlformats.org/officeDocument/2006/relationships/notesMaster" Target="/ppt/notesMasters/notesMaster1.xml" Id="R3f3e8905577e48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9b5c5e2d2b408f" /><Relationship Type="http://schemas.openxmlformats.org/officeDocument/2006/relationships/notesMaster" Target="/ppt/notesMasters/notesMaster1.xml" Id="R7a7c160721744a4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76909288244685" /><Relationship Type="http://schemas.openxmlformats.org/officeDocument/2006/relationships/notesMaster" Target="/ppt/notesMasters/notesMaster1.xml" Id="R099cba0010344b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2ed87227bd43fa" /><Relationship Type="http://schemas.openxmlformats.org/officeDocument/2006/relationships/notesMaster" Target="/ppt/notesMasters/notesMaster1.xml" Id="Rcb6fb270060b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boundary. VariScout is not live process control; it controls the improvement learning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why VariScout deserves to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prevent the platform story from becoming too broad.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product team should evaluate the job and return loop for each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visible that VariScout is not only a solo analyst canvas.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mental model slide for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answers what we are improving and where the problem lives.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Inputs are incoming material or information. Conditions are internal operating factors.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Rational subgrouping is a methodological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what the current subgroup calculations 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Ground the deck in EDA Methodology 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Split the workflow to keep the slide readable.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Split the workflow to keep the slide readable.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 one of instrument 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 two of instrument sets with maturity.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 one of stats engine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 two of stats engine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full Gage R&amp;R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ADR-010 defers production MSA because credible implementation needs full statistical treatment.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power is advisory. Formal power and sample-size math is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Combine readiness and surfaces at large readable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product evaluation, key risk, and the narrow proof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a9727956c402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F5B2905-9285-4121-B195-231ACE51DA0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BE6D879-869D-4664-B669-E864E46FE7C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B89B8D-F04E-4224-8727-F2BB05EF29C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117A54-654D-41B6-97F6-B1E26AAF525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841fd008e2a4c5f" /><Relationship Type="http://schemas.openxmlformats.org/officeDocument/2006/relationships/slideLayout" Target="/ppt/slideLayouts/slideLayout2.xml" Id="Rc561201e41b546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17136C-9FC9-4395-9310-A9AFA7C2ADA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61201e41b546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5def0b9a7c4706" /><Relationship Type="http://schemas.openxmlformats.org/officeDocument/2006/relationships/notesSlide" Target="/ppt/notesSlides/notesSlide1.xml" Id="Refef8d641e3047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b2c8aed4a4482e" /><Relationship Type="http://schemas.openxmlformats.org/officeDocument/2006/relationships/notesSlide" Target="/ppt/notesSlides/notesSlide2.xml" Id="R98b56bb4b61548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97aae6e2174572" /><Relationship Type="http://schemas.openxmlformats.org/officeDocument/2006/relationships/notesSlide" Target="/ppt/notesSlides/notesSlide3.xml" Id="R0aba7b976e6644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df126dc937480b" /><Relationship Type="http://schemas.openxmlformats.org/officeDocument/2006/relationships/notesSlide" Target="/ppt/notesSlides/notesSlide4.xml" Id="Rbab05c9c2a744b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0dcb850e4c46e2" /><Relationship Type="http://schemas.openxmlformats.org/officeDocument/2006/relationships/notesSlide" Target="/ppt/notesSlides/notesSlide5.xml" Id="R982424a5fc7a4c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24b05cbac4fb3" /><Relationship Type="http://schemas.openxmlformats.org/officeDocument/2006/relationships/notesSlide" Target="/ppt/notesSlides/notesSlide6.xml" Id="R1ed140f9884d4e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4bdfd8f16b4dcf" /><Relationship Type="http://schemas.openxmlformats.org/officeDocument/2006/relationships/notesSlide" Target="/ppt/notesSlides/notesSlide7.xml" Id="R63a3c882b3764d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3ee69504e54308" /><Relationship Type="http://schemas.openxmlformats.org/officeDocument/2006/relationships/notesSlide" Target="/ppt/notesSlides/notesSlide8.xml" Id="R79361e691b434b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7d91a2acac4ff6" /><Relationship Type="http://schemas.openxmlformats.org/officeDocument/2006/relationships/notesSlide" Target="/ppt/notesSlides/notesSlide9.xml" Id="Rbc68f8a091ff4f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c1ca584c284271" /><Relationship Type="http://schemas.openxmlformats.org/officeDocument/2006/relationships/notesSlide" Target="/ppt/notesSlides/notesSlide10.xml" Id="R93fa8a246ccd46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45583a169f4a4f" /><Relationship Type="http://schemas.openxmlformats.org/officeDocument/2006/relationships/notesSlide" Target="/ppt/notesSlides/notesSlide11.xml" Id="R12e4696f940547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f6f7c5a4e44c1e" /><Relationship Type="http://schemas.openxmlformats.org/officeDocument/2006/relationships/notesSlide" Target="/ppt/notesSlides/notesSlide12.xml" Id="R57b1ba848d074e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7214a805af4a44" /><Relationship Type="http://schemas.openxmlformats.org/officeDocument/2006/relationships/notesSlide" Target="/ppt/notesSlides/notesSlide13.xml" Id="R89e01c3636d845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d53d0b34cf4b4d" /><Relationship Type="http://schemas.openxmlformats.org/officeDocument/2006/relationships/notesSlide" Target="/ppt/notesSlides/notesSlide14.xml" Id="R35c3dc42dab841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e9131974074c25" /><Relationship Type="http://schemas.openxmlformats.org/officeDocument/2006/relationships/notesSlide" Target="/ppt/notesSlides/notesSlide15.xml" Id="R4ae860c9ae684c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82044f70fb4b7a" /><Relationship Type="http://schemas.openxmlformats.org/officeDocument/2006/relationships/notesSlide" Target="/ppt/notesSlides/notesSlide16.xml" Id="Rcfd64665fb3c4d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4f8f1c4f3243ca" /><Relationship Type="http://schemas.openxmlformats.org/officeDocument/2006/relationships/notesSlide" Target="/ppt/notesSlides/notesSlide17.xml" Id="R5e5fa6cc3b5148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c76a33739b4a5e" /><Relationship Type="http://schemas.openxmlformats.org/officeDocument/2006/relationships/notesSlide" Target="/ppt/notesSlides/notesSlide18.xml" Id="R1028791d615c40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28e91f954d4b5c" /><Relationship Type="http://schemas.openxmlformats.org/officeDocument/2006/relationships/notesSlide" Target="/ppt/notesSlides/notesSlide19.xml" Id="R03407d2a3e804a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84743bd5224608" /><Relationship Type="http://schemas.openxmlformats.org/officeDocument/2006/relationships/notesSlide" Target="/ppt/notesSlides/notesSlide20.xml" Id="Rcadc9c6ad9b44b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cc6cdd5d1e4bc7" /><Relationship Type="http://schemas.openxmlformats.org/officeDocument/2006/relationships/notesSlide" Target="/ppt/notesSlides/notesSlide21.xml" Id="R6953e1c3a86b444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de5d1f5e1f4e17" /><Relationship Type="http://schemas.openxmlformats.org/officeDocument/2006/relationships/notesSlide" Target="/ppt/notesSlides/notesSlide22.xml" Id="R07ac069912bd4f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FBCAC-462A-4149-A4D3-BC0CD0DC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PRODUCT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8A7B9-B415-4D47-BB92-58D0FC43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01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195E0-9D80-43F9-AF16-33434E66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58A72-4C38-4224-AEDB-F1DA1764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VariScout controls the improvement learning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E2D08-1A2C-4F73-98F0-A3ED2A9A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 browser-based system for structured process investigation.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3436D-CEF0-4937-9B66-76B19162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62125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917F2-157E-4029-BEE7-ADBCCB49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A05A7-AC04-47B5-A819-65B8C232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864" y="2562225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C70"/>
          </a:solidFill>
          <a:ln xmlns:a="http://schemas.openxmlformats.org/drawingml/2006/main" w="0">
            <a:solidFill>
              <a:srgbClr val="087C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A0F17-7C4B-43EC-A99A-AAB654C0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164" y="26479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18692-9A50-4A2D-A332-88B5397E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864" y="4162425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507C0-77F5-437B-BAC6-A2771C47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164" y="42481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D8A32-306E-4D82-A081-7DB05A70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62525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B100C-5F53-4AAD-A11A-C83D6CC0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482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Mechanisms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4D813-9A42-41A1-ABE0-572CBB97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236" y="4162425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04708-F3C4-4DBA-8865-D4666A2B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536" y="42481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B0F85-21B6-4F49-AA30-B649246A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236" y="2562225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95845"/>
          </a:solidFill>
          <a:ln xmlns:a="http://schemas.openxmlformats.org/drawingml/2006/main" w="0">
            <a:solidFill>
              <a:srgbClr val="C958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CDFFC-A484-4D78-8AC7-32ABD1B0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536" y="26479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Verification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1C27B-31B5-4358-B74B-677B4EE3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182880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BCD3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60D12-024F-4063-B0C1-154859A9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4F49"/>
                </a:solidFill>
              </a:defRPr>
            </a:pPr>
            <a:r>
              <a:rPr sz="2025" b="1">
                <a:solidFill>
                  <a:srgbClr val="064F49"/>
                </a:solidFill>
              </a:rPr>
              <a:t>Control the</a:t>
            </a:r>
          </a:p>
          <a:p xmlns:a="http://schemas.openxmlformats.org/drawingml/2006/main">
            <a:pPr algn="ctr">
              <a:defRPr sz="2025" b="1">
                <a:solidFill>
                  <a:srgbClr val="064F49"/>
                </a:solidFill>
              </a:defRPr>
            </a:pPr>
            <a:r>
              <a:rPr sz="2025" b="1">
                <a:solidFill>
                  <a:srgbClr val="064F49"/>
                </a:solidFill>
              </a:rPr>
              <a:t>learning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169ED-553B-4D9C-A2BF-5E8D8A34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7569D-2DF8-4CC9-92F9-922AF690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It preserves the reasoning chain from process evidence to verified learning.</a:t>
            </a:r>
          </a:p>
        </p:txBody>
      </p:sp>
    </p:spTree>
    <p:extLst>
      <p:ext uri="{BB962C8B-B14F-4D97-AF65-F5344CB8AC3E}">
        <p14:creationId xmlns:p14="http://schemas.microsoft.com/office/powerpoint/2010/main" val="1350821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B3466-71D3-4523-B22B-F9D744E8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WHY NOW / WHY THIS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83408-1D4E-4AA8-A3DC-BD792620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02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CC3A9-B114-4612-B9F1-286CE27A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4B1E0-70CD-47D7-BD4C-FF0C9747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The missing layer is retained reasoning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75F40-141F-4EE4-BBA9-7C702C10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Most current tools show data or track work. They do not own the closed improvement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C96B5-D283-4FC9-A5C0-EB69D4B6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29E57-0779-44E7-8210-534053A2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0736C-543A-47B0-AB5B-B2EFE155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Excel / Minitab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13233-B562-4610-9F91-0144C27D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Good analysis.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Weak decision memory.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CBB4E-8D19-4198-AEBA-B0F34B3C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F6580-291E-4D55-B755-1B3966F1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DD3B9-DCDB-4BF2-9FC7-127245B8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Power BI / 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B3633-F700-4A3D-B78F-10C02EFD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Good visibility.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Weak investigation method.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533FE-00E1-4FB0-AA5F-EC07C9AB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63D2E-EE01-4CB7-A049-4C3CCEBB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E2C1D-B30D-4256-85C5-CD87DF80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QMS / Jira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AA74C-A663-47BA-A0E6-EEFE46F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Good records.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Weak statistical reasoning.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BA4A9-9F7C-408B-96BF-72295142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575C9-3B24-41E5-A641-1B1E4340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06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VariScout wedge: structured investigation, deterministic stats, customer-owned data, and Process Hub memory.</a:t>
            </a:r>
          </a:p>
        </p:txBody>
      </p:sp>
    </p:spTree>
    <p:extLst>
      <p:ext uri="{BB962C8B-B14F-4D97-AF65-F5344CB8AC3E}">
        <p14:creationId xmlns:p14="http://schemas.microsoft.com/office/powerpoint/2010/main" val="191631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EE15B-E405-4B36-BF1C-15A3B171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A332E-3568-4266-91AB-517F031B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03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60597-B0F5-411C-9DB3-7A77A547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9F415-AACA-47EE-B823-8C1552D8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It is deliberately not a generic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6CCC5-DA3E-4C5B-BA7C-04F4A1DD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 product stays credible by being clear about its boundaries.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40A6A-4F08-43C8-B6FC-FC979D91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9530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A30D9-21E8-42D8-A84A-C314A900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95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8BD95-F351-439A-8750-2DF37985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923"/>
                </a:solidFill>
              </a:defRPr>
            </a:pPr>
            <a:r>
              <a:rPr sz="2250" b="1">
                <a:solidFill>
                  <a:srgbClr val="111923"/>
                </a:solidFill>
              </a:rPr>
              <a:t>What it 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1A390-55D5-4267-91B3-05A6220E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4419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0505C"/>
                </a:solidFill>
              </a:defRPr>
            </a:pPr>
            <a:r>
              <a:rPr sz="1875" b="0">
                <a:solidFill>
                  <a:srgbClr val="40505C"/>
                </a:solidFill>
              </a:rPr>
              <a:t>A process-improvement reasoning system.</a:t>
            </a:r>
          </a:p>
          <a:p xmlns:a="http://schemas.openxmlformats.org/drawingml/2006/main">
            <a:pPr algn="l">
              <a:defRPr sz="1875" b="0">
                <a:solidFill>
                  <a:srgbClr val="40505C"/>
                </a:solidFill>
              </a:defRPr>
            </a:pPr>
            <a:r>
              <a:rPr sz="1875" b="0">
                <a:solidFill>
                  <a:srgbClr val="40505C"/>
                </a:solidFill>
              </a:rPr>
              <a:t>A guided method for evidence, questions, actions, and verification.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CA4CA-C8B5-4409-BF87-C48F469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49530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B8D1A-EB64-4ECB-BD8F-B669524E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95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4"/>
          </a:solidFill>
          <a:ln xmlns:a="http://schemas.openxmlformats.org/drawingml/2006/main" w="0">
            <a:solidFill>
              <a:srgbClr val="A33A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4A861-533B-42C4-A6FD-C1028A3A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923"/>
                </a:solidFill>
              </a:defRPr>
            </a:pPr>
            <a:r>
              <a:rPr sz="2250" b="1">
                <a:solidFill>
                  <a:srgbClr val="111923"/>
                </a:solidFill>
              </a:rPr>
              <a:t>What it is not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07A3C-BB86-44B3-B82E-12E05CDA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05200"/>
            <a:ext cx="4419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0505C"/>
                </a:solidFill>
              </a:defRPr>
            </a:pPr>
            <a:r>
              <a:rPr sz="1875" b="0">
                <a:solidFill>
                  <a:srgbClr val="40505C"/>
                </a:solidFill>
              </a:rPr>
              <a:t>Not live process control.</a:t>
            </a:r>
          </a:p>
          <a:p xmlns:a="http://schemas.openxmlformats.org/drawingml/2006/main">
            <a:pPr algn="l">
              <a:defRPr sz="1875" b="0">
                <a:solidFill>
                  <a:srgbClr val="40505C"/>
                </a:solidFill>
              </a:defRPr>
            </a:pPr>
            <a:r>
              <a:rPr sz="1875" b="0">
                <a:solidFill>
                  <a:srgbClr val="40505C"/>
                </a:solidFill>
              </a:rPr>
              <a:t>Not generic BI.</a:t>
            </a:r>
          </a:p>
          <a:p xmlns:a="http://schemas.openxmlformats.org/drawingml/2006/main">
            <a:pPr algn="l">
              <a:defRPr sz="1875" b="0">
                <a:solidFill>
                  <a:srgbClr val="40505C"/>
                </a:solidFill>
              </a:defRPr>
            </a:pPr>
            <a:r>
              <a:rPr sz="1875" b="0">
                <a:solidFill>
                  <a:srgbClr val="40505C"/>
                </a:solidFill>
              </a:rPr>
              <a:t>Not generic task management.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7B8CA-B505-4D8C-8CA2-D73CF3A9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B105C-CADC-442A-A67B-ACA3E75A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The product can connect to other systems without becoming them.</a:t>
            </a:r>
          </a:p>
        </p:txBody>
      </p:sp>
    </p:spTree>
    <p:extLst>
      <p:ext uri="{BB962C8B-B14F-4D97-AF65-F5344CB8AC3E}">
        <p14:creationId xmlns:p14="http://schemas.microsoft.com/office/powerpoint/2010/main" val="2101742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78766-F686-4798-BA8B-A767B459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43C4D-E4A9-42EE-9E69-1BB4ECF8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04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4CDC4-83A6-4882-B16A-A8DE0765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4D4F4-1C3D-47E3-AAFE-B34623B4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Primary users need different depths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5FDF8-8A17-4946-BB19-D6CEB8A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They share one method, but not the same interface burden.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5B209-6894-4ABE-ABE1-3BF845C0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94C3A-3445-45B8-9CC7-0D1D333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Analyst / Black Belt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60436-36F4-47B4-BC95-FE73EA65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Find variation focus and next question.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4F7AD-39F1-430E-AE9A-E08725A2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A9998-4BEF-43F0-8D58-7CC51444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810E4-0CCB-44FB-9955-9C4DA849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FC055-BE57-4EE1-B425-9A766B60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Process engineer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112C2-8F53-4646-9791-F790EC47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Connect signals to process physics.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07042-F292-4686-9A58-03449F91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956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5F695-8473-4278-8729-7ACC44F8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814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94D94-C672-48A4-B2C1-74B325A8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0B816-32CA-449F-BF2D-FCA6F869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Process owner / OpEx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4D97B-ED4E-422E-9AD4-2E3EF724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2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Review next move and verification.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45B64-78F8-4179-9559-6CACDD6B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814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D4AEC-A6B2-4BB3-9C90-1A2B29F0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672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B0AB1-B2E1-4A16-8251-B4F145D1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5F73F-1AED-4090-A6FE-0E31BD82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Sponsor / MBB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8718D-F7DC-43D8-A37C-06183CA1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14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Judge method quality and value proof.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21832-877A-4812-8F76-056C2B67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672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DC3BC9-B913-47FD-9030-FE5BE939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Designed</a:t>
            </a:r>
          </a:p>
        </p:txBody>
      </p:sp>
    </p:spTree>
    <p:extLst>
      <p:ext uri="{BB962C8B-B14F-4D97-AF65-F5344CB8AC3E}">
        <p14:creationId xmlns:p14="http://schemas.microsoft.com/office/powerpoint/2010/main" val="222745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D19F1-3AA0-4D85-94BB-774F9F14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CONTRIBUTORS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E44AC-91D6-40C1-833F-9D2DA2DE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05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96BCF-42C6-47EE-A789-09C9BC04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E7783-61D1-47AF-A45E-6524426C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Many voices feed one evidence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48AD7-BC81-4BA8-88A2-81A983AD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Field observations only matter when they attach to the investigation spine.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1D00E-2FE9-443A-9355-FAFEE5D3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7DB2C-49E5-420D-BAB4-843A2E63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Operator / gemba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73CF9-8462-4344-8B66-A588C8CC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Answer checks. Add observed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8AE456-E04F-4BBD-9094-F1B91AD3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E9CEF-CCC8-4D9A-9EF9-8EBC8E05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AFC7F-2204-4039-8966-82D0D189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10A02-BAEB-4169-9AE9-33BF7498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Maintenance expert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F1BC7-26ED-4865-B10F-F85B7827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Validate equipment and method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21FCB-501E-427A-A47E-1A5E24BB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956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C8E59-83FA-4B61-8987-3C2920E4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814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B5511-A689-43CD-9AAB-5941D5A6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88C2A-A6D2-4162-A54B-62065E32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Domain expert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2FCCF-2430-408E-B567-0D0AA403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2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Confirm plausibility and missing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D1DE0-3E42-4410-972B-8E1B2885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814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380A1-3374-4470-B507-3348944C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672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69231-417C-4176-AE09-3553183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4A86C3-1A77-4588-854D-D9CFF821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CoScout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16833-2E97-4F82-B76B-680DBEC9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14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Drafts and explains. Human confirms.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1B2A2-B212-484B-85F6-0D2DF237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672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FFBCB2-1C12-4F94-8DFE-97B2F202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Implemented</a:t>
            </a:r>
          </a:p>
        </p:txBody>
      </p:sp>
    </p:spTree>
    <p:extLst>
      <p:ext uri="{BB962C8B-B14F-4D97-AF65-F5344CB8AC3E}">
        <p14:creationId xmlns:p14="http://schemas.microsoft.com/office/powerpoint/2010/main" val="17080463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9F599-F6B1-459E-A218-680126C1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SYSTEM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3C56A-3E12-4134-B913-F5E0B1EC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06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81543-0DDF-405A-A431-CC11780B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B6039-7359-4BFF-B40C-6EB85442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The architecture mirrors the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8634B-CEB6-4E9F-96F4-2C4A23C0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Process context becomes evidence. Evidence becomes questions. Questions become mechanisms and verified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09AFB-DB4D-472C-B131-63A97EBC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962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A2129-8F16-49B8-A5BF-D72CB6C8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70"/>
          </a:solidFill>
          <a:ln xmlns:a="http://schemas.openxmlformats.org/drawingml/2006/main" w="0">
            <a:solidFill>
              <a:srgbClr val="087C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2E40E-EC03-43AB-9BCD-74C37F36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Process 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AAFEC-8561-47E3-8A4F-D0AE798D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86075"/>
            <a:ext cx="581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Operating home for one process, line, queue, or value stream.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75F30-8E82-46B5-8E82-FEE6747A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9124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5919C-529A-4BF5-B962-CA70903F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D3620-5795-4E76-B8E4-F59B6CDC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Evidence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921B7-8E91-4B07-B90E-D32A187B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90925"/>
            <a:ext cx="531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Recurring exports and snapshots.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76E22-EDC8-4CD7-BC77-19F9BCAD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8629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CBD80-7F83-4DC2-8D5E-F5A08023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CE2FD-ABA7-41A5-B0B3-1FA9F3C0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862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Investigation Journey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5715C-923A-4F07-A13B-9F01F20C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95775"/>
            <a:ext cx="4819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845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FRAME, MEASURE, SCOUT, INVESTIGATE, IMPROVE, SUSTAIN.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5BF23-FDF0-4A16-AC26-647943AA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57750"/>
            <a:ext cx="8134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A7B9C-98EB-481A-8828-9142DC21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57750"/>
            <a:ext cx="9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C0809-BB57-4AC3-9779-7668223C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911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Actions + Sustainment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3FB24-FAE3-4175-8E52-278F2FD3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00625"/>
            <a:ext cx="432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Verification and retained learning.</a:t>
            </a:r>
          </a:p>
        </p:txBody>
      </p:sp>
    </p:spTree>
    <p:extLst>
      <p:ext uri="{BB962C8B-B14F-4D97-AF65-F5344CB8AC3E}">
        <p14:creationId xmlns:p14="http://schemas.microsoft.com/office/powerpoint/2010/main" val="934208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460F2-235B-4A86-AC82-42035E1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FRAME / SIPOC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D327F-352A-440D-84F8-AD52F1E8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07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09BE1-E57B-4325-B7CC-18DE97B8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F0BE0-C2FE-41F0-8034-080BFE8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FRAME maps the process before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F9171-72AF-49E4-9843-CD3B5AB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 SIPOC-style spine connects the process to the customer-felt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7AFA7-564D-4D54-B254-289B6486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676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69356-033E-4642-9A9A-1B8380AD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16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923"/>
                </a:solidFill>
              </a:defRPr>
            </a:pPr>
            <a:r>
              <a:rPr sz="1575" b="1">
                <a:solidFill>
                  <a:srgbClr val="111923"/>
                </a:solidFill>
              </a:rPr>
              <a:t>Supplier /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5E49B-B9E0-4953-A8A8-C9E416CD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052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05C"/>
          </a:solidFill>
          <a:ln xmlns:a="http://schemas.openxmlformats.org/drawingml/2006/main" w="0">
            <a:solidFill>
              <a:srgbClr val="4050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29BAA-38DE-41DB-958B-26DBCA54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676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7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F03AC-B971-4C96-B25D-88E0FA6D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385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923"/>
                </a:solidFill>
              </a:defRPr>
            </a:pPr>
            <a:r>
              <a:rPr sz="1575" b="1">
                <a:solidFill>
                  <a:srgbClr val="111923"/>
                </a:solidFill>
              </a:rPr>
              <a:t>Step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36E97-D5FC-4F47-8302-D7C0F95A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05C"/>
          </a:solidFill>
          <a:ln xmlns:a="http://schemas.openxmlformats.org/drawingml/2006/main" w="0">
            <a:solidFill>
              <a:srgbClr val="4050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885C3-E21C-48F7-88FC-5741FC86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81350"/>
            <a:ext cx="1676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7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4961D-D83F-434C-AE67-82A96731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385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923"/>
                </a:solidFill>
              </a:defRPr>
            </a:pPr>
            <a:r>
              <a:rPr sz="1575" b="1">
                <a:solidFill>
                  <a:srgbClr val="111923"/>
                </a:solidFill>
              </a:rPr>
              <a:t>Step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B92B7-A7CD-423A-85C2-3ECE00E7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052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05C"/>
          </a:solidFill>
          <a:ln xmlns:a="http://schemas.openxmlformats.org/drawingml/2006/main" w="0">
            <a:solidFill>
              <a:srgbClr val="4050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CD4B6-39A2-4429-A138-B74B5918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81350"/>
            <a:ext cx="1676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7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E13EA-104B-4410-98A3-F202D786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385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923"/>
                </a:solidFill>
              </a:defRPr>
            </a:pPr>
            <a:r>
              <a:rPr sz="1575" b="1">
                <a:solidFill>
                  <a:srgbClr val="111923"/>
                </a:solidFill>
              </a:rPr>
              <a:t>Step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22A36-5A35-480F-A65A-4D2DF06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4381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05C"/>
          </a:solidFill>
          <a:ln xmlns:a="http://schemas.openxmlformats.org/drawingml/2006/main" w="0">
            <a:solidFill>
              <a:srgbClr val="4050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F9447-0040-4C43-9344-1229083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1676400" cy="838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F3F0"/>
          </a:solidFill>
          <a:ln xmlns:a="http://schemas.openxmlformats.org/drawingml/2006/main" w="14288">
            <a:solidFill>
              <a:srgbClr val="087C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6A2967-E0E6-4022-9182-C781B122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38525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548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4F49"/>
                </a:solidFill>
              </a:defRPr>
            </a:pPr>
            <a:r>
              <a:rPr sz="1575" b="1">
                <a:solidFill>
                  <a:srgbClr val="064F49"/>
                </a:solidFill>
              </a:rPr>
              <a:t>Customer 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26DF8-EB77-4125-9076-BE72507D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E295C-59DE-446E-A5E5-2075E57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FRAME answers: what are we improving, where does it live, and what evidence is missing?</a:t>
            </a:r>
          </a:p>
        </p:txBody>
      </p:sp>
    </p:spTree>
    <p:extLst>
      <p:ext uri="{BB962C8B-B14F-4D97-AF65-F5344CB8AC3E}">
        <p14:creationId xmlns:p14="http://schemas.microsoft.com/office/powerpoint/2010/main" val="1876955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E37AC-F092-4E66-83B2-2D7139C2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PROCESS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71D5D-A9E2-4CEE-8C3A-DC5228A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08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6D58C-4ED5-46CB-A63B-358997E9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7744B-0973-48BC-A5F2-BD41F299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Use process inputs &amp; conditions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98E37-4A85-48D0-9AE3-4000D6A8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This is broader than SIPOC inputs alone.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22AB3-60C6-4AFC-AF09-333AE06B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EDCDD-FBC6-4B23-8B37-35B47FF4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11088-E322-469E-BB80-96434E9E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6F9D7-F216-4789-B053-D6DCF1ED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Material, supplier,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batch, lot, incoming info.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D2E32-AEC1-46EE-BFC3-29924EEE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728FA-4653-4AD3-8686-BC5FDA6F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D9F88-150D-438F-A7D4-E0392512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Conditions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864A4-A2D9-4B46-B96A-07143193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Force, speed, temperature,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pressure, recipe, setup.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F30FB-49DC-4A1C-AF5D-7AB3605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8B903-B6CA-4C0E-A215-E4F50940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62A2C-88C4-4A9C-A170-6C5E62D5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C8129-6DB0-4180-A88A-E5F6CE75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Shift, operator method,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tool state, environment.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6F2D2-4183-494A-A05A-2F780CD7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4EB6C-137D-4158-88BD-1C98D78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Subgroup axes and candidate Xs should come from this process context.</a:t>
            </a:r>
          </a:p>
        </p:txBody>
      </p:sp>
    </p:spTree>
    <p:extLst>
      <p:ext uri="{BB962C8B-B14F-4D97-AF65-F5344CB8AC3E}">
        <p14:creationId xmlns:p14="http://schemas.microsoft.com/office/powerpoint/2010/main" val="10563834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88EE4-8C34-43CE-ABD7-C932E069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SUBGROUP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7308E-3DFC-4CA6-B0D7-F416E64D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09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2A0D3-6038-4029-AD3E-DA8FE72A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F9106-0DDC-4E39-A3EE-2227EC9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Subgroups come from process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0305B-06FC-491F-B437-B67BB411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They are not arbitrary columns selected after the chart looks interesting.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6269B-149A-482C-B42C-0BDE8155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B6D02-8673-4FD4-978B-858931C6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E250A-48A0-4DBB-980D-88F1EEE2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Good axes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149A5-E89E-466D-A638-51C267A2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Shift, lot, machine,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batch, event, stage.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D250D-36EF-49B8-A224-846FF7A7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9FD48-64A1-4A27-AE69-3FA03908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EF77B-C50F-41AB-99F8-B73CB598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Good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0BDCC-376B-4A39-938E-9174C7F1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 axis could plausibly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change the distribution.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A57A1-A627-4526-A65C-E6AF55C2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3D46A6-EA07-4190-8BB5-9DF3F1CE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4"/>
          </a:solidFill>
          <a:ln xmlns:a="http://schemas.openxmlformats.org/drawingml/2006/main" w="0">
            <a:solidFill>
              <a:srgbClr val="A33A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277BB-9D4F-4D88-8CBD-CA9EF45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Bad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CA851-0631-472F-A0D0-BBF3C1BB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 split merely makes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 chart look different.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A5726-EB9A-4E93-A63C-2C41367E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0A221-0D18-4A44-9434-4C23012C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Choose the subgroup from the process map before trusting the comparison.</a:t>
            </a:r>
          </a:p>
        </p:txBody>
      </p:sp>
    </p:spTree>
    <p:extLst>
      <p:ext uri="{BB962C8B-B14F-4D97-AF65-F5344CB8AC3E}">
        <p14:creationId xmlns:p14="http://schemas.microsoft.com/office/powerpoint/2010/main" val="1567819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24B20-F1C4-4CFD-A77F-7AE428E0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SUBGROUP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EFC8C-08D1-42C4-A3DA-4627B746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10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D48BF-8CAA-4A36-84FF-4DAC5DC7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0F0E0-4A27-4833-BDA1-5EF31D9C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Subgroup capability shows stability of 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81D85-B2F5-4BEB-B235-E664C611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 point is not one Cpk number. The point is whether capability is stable across meaningful windows.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381D7-F403-4371-A09F-4FD5AEF0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953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D7E40-0D99-4B24-B797-D4B9C496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95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A82F5-6508-46DA-8EAE-0A7B4D3D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923"/>
                </a:solidFill>
              </a:defRPr>
            </a:pPr>
            <a:r>
              <a:rPr sz="2025" b="1">
                <a:solidFill>
                  <a:srgbClr val="111923"/>
                </a:solidFill>
              </a:rPr>
              <a:t>Current calculation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DC9DE-32C5-4CB9-A092-6EC41D00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59B95-1FA5-4B5A-B2A2-F4826870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384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52670-41AC-49F2-8EBC-69D47B4C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Cp/Cpk by subgroup.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Control limits for capability series.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Process moments for meaningful windows.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6D486-9547-436B-B963-0EFE331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4953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E2543-52CF-4F86-AC92-E07163BC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95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BEFF5-FCEB-40CA-8B79-A3B7FEB5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923"/>
                </a:solidFill>
              </a:defRPr>
            </a:pPr>
            <a:r>
              <a:rPr sz="2025" b="1">
                <a:solidFill>
                  <a:srgbClr val="111923"/>
                </a:solidFill>
              </a:rPr>
              <a:t>Product guidance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9CD25-1FDB-438C-8D99-C8089C9A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527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09DD3-045D-4DC5-B080-B0A7A8F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8D39F-F6A2-4AC2-96E4-E1AA439A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0520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Warn when subgrouping is cosmetic, underpowered, or disconnected from process logic.</a:t>
            </a:r>
          </a:p>
        </p:txBody>
      </p:sp>
    </p:spTree>
    <p:extLst>
      <p:ext uri="{BB962C8B-B14F-4D97-AF65-F5344CB8AC3E}">
        <p14:creationId xmlns:p14="http://schemas.microsoft.com/office/powerpoint/2010/main" val="19471529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43B77-97AC-459F-B33E-CF2E86B7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EDA 2.0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1908D-7D94-4DF1-B38A-5131D1F7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11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7A399-57AA-4587-A924-302A9866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13916-C072-4879-8E17-1826102A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The core loop is current understanding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CAD08-0920-4152-A8F0-3FAD105A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 product should store learning, not just charts.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DFC59-918B-43AD-B6F6-880AE1D7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5F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0B064-1538-476C-B142-063F3E1F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836DF-C40F-4D47-9595-2493E57C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8140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05C"/>
          </a:solidFill>
          <a:ln xmlns:a="http://schemas.openxmlformats.org/drawingml/2006/main" w="0">
            <a:solidFill>
              <a:srgbClr val="4050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5DD69-D63D-44A9-B7B6-313F43E7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7C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C57A3-8B88-4942-A821-167945BB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099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671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Current</a:t>
            </a:r>
          </a:p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Understanding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348C7-2B29-4D09-A1F1-E44E6660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8140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05C"/>
          </a:solidFill>
          <a:ln xmlns:a="http://schemas.openxmlformats.org/drawingml/2006/main" w="0">
            <a:solidFill>
              <a:srgbClr val="4050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82C82-F8CD-4058-87CF-1C9FE5E3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7A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EA687-892C-481D-8910-9F8381A4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099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Problem</a:t>
            </a:r>
          </a:p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EE8FF-108A-4658-B706-467668DA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05C"/>
          </a:solidFill>
          <a:ln xmlns:a="http://schemas.openxmlformats.org/drawingml/2006/main" w="0">
            <a:solidFill>
              <a:srgbClr val="4050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52671-F3BA-4D48-80D5-6FCA1D81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051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B50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A6A26-563A-4974-A5FE-1D9285B5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099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Clues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6AFE3-4AE3-493A-9651-418BA5D9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8140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05C"/>
          </a:solidFill>
          <a:ln xmlns:a="http://schemas.openxmlformats.org/drawingml/2006/main" w="0">
            <a:solidFill>
              <a:srgbClr val="4050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3534A-015F-4BB0-ABF2-0A442762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E8B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AEDE5-6704-4535-8322-41D07ED1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Mechanism</a:t>
            </a:r>
          </a:p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Branches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6E2EF-BF56-4AE7-9CD8-5F899846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8140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05C"/>
          </a:solidFill>
          <a:ln xmlns:a="http://schemas.openxmlformats.org/drawingml/2006/main" w="0">
            <a:solidFill>
              <a:srgbClr val="4050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B2E67-B5C2-4AE7-AD5F-2AE0E1D4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958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77E74-9782-481D-AF49-E74588FC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099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Next</a:t>
            </a:r>
          </a:p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Move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69D42F-D4DF-4E76-B0D2-92494182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81400"/>
            <a:ext cx="4953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0505C"/>
          </a:solidFill>
          <a:ln xmlns:a="http://schemas.openxmlformats.org/drawingml/2006/main" w="0">
            <a:solidFill>
              <a:srgbClr val="4050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8A6280-104A-4A17-8A81-40662501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0515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64F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0809B3-E3A7-4B77-BCC5-5BBB4D0E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09950"/>
            <a:ext cx="91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Verify /</a:t>
            </a:r>
          </a:p>
          <a:p xmlns:a="http://schemas.openxmlformats.org/drawingml/2006/main">
            <a:pPr algn="ctr">
              <a:defRPr sz="1275" b="1">
                <a:solidFill>
                  <a:srgbClr val="111923"/>
                </a:solidFill>
              </a:defRPr>
            </a:pPr>
            <a:r>
              <a:rPr sz="1275" b="1">
                <a:solidFill>
                  <a:srgbClr val="111923"/>
                </a:solidFill>
              </a:rPr>
              <a:t>Sustain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561EEC-B800-4E47-B417-96C8810C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5D269-A4C8-46A9-8A15-516B7C2D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Every screen should reduce uncertainty or preserve verified learning.</a:t>
            </a:r>
          </a:p>
        </p:txBody>
      </p:sp>
    </p:spTree>
    <p:extLst>
      <p:ext uri="{BB962C8B-B14F-4D97-AF65-F5344CB8AC3E}">
        <p14:creationId xmlns:p14="http://schemas.microsoft.com/office/powerpoint/2010/main" val="15246975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972A2-B403-4640-A030-DAB0721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HOW USERS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93E31-E593-4015-8A9B-77E20FCC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12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AD302-E88F-42D1-99BF-9B6509FA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93A20-BD35-4677-A5E8-1C4B7382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First half: define and find the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6CCEC-D1F1-4C9F-9928-D998E30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 workflow starts by making the problem measurable and the process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18BA6-7E29-4556-8912-F9EB2CF2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D4BC1-DBC7-4BA4-AFA2-BDEFCB67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4C057-6EF9-4522-B19C-EF853B5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058AB-A0AC-41FA-9010-DBCCCEAF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Define issue, CTS/CTQ,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process, inputs &amp;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D4A1B-56BE-4750-AA72-1FBEC9C9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C4B3A-165F-40BF-B98E-28ACFB06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49394-BB86-441C-8903-8A007CE5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MEASURE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8FA64-5A02-4DBE-BC6E-1B86716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Check operational definition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and signal trust.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F01B8-C44E-4AAB-AA37-CC31645B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3A0AC-5D8E-4229-A6C9-BFBE4108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70"/>
          </a:solidFill>
          <a:ln xmlns:a="http://schemas.openxmlformats.org/drawingml/2006/main" w="0">
            <a:solidFill>
              <a:srgbClr val="087C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6DD0A-68E6-4DFF-9D3F-552B91A3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SCOUT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C0368-60D9-4E2B-9056-0543BAE4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Run deterministic instruments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and surface clues.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C649E-6E9A-467A-B61F-77E9C3FB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98577-7214-4258-84C9-EDA06F01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The early job is to avoid analyzing the wrong problem.</a:t>
            </a:r>
          </a:p>
        </p:txBody>
      </p:sp>
    </p:spTree>
    <p:extLst>
      <p:ext uri="{BB962C8B-B14F-4D97-AF65-F5344CB8AC3E}">
        <p14:creationId xmlns:p14="http://schemas.microsoft.com/office/powerpoint/2010/main" val="516671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EC708-CA67-4ABE-9426-BD360B84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HOW USERS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D84A8-0611-446B-8A1E-D1A31C76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13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1BB6F-B655-41E5-AC03-2C76831C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0B7B5-402D-443F-98C0-53C296D7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Second half: test, improve, and retain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06B41-836E-47EB-9B7D-2A7C21E8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Evidence moves toward a decision and a measured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D85C7-F2E3-446C-B4DD-BC5DCA25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5BBD5-A5EE-45CA-92EC-12FCA178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4AEF8-D65A-455C-A0B7-F9001502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INVESTIGATE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6EF7A-6ADF-4CD3-AE34-BDA24E36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Ask questions and validate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mechanism branches.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A49F5-EF51-40A8-B8C0-B41C5559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30D70-6E55-4F99-BFD2-5D906A19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297E5-0FFA-445F-A728-4FE9EE7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IMPROVE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2F1E7-5564-473A-BEA8-97E774FE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Plan action, model impact,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and verify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A1FC8-B3AC-426A-8427-BFADC8F1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436D1-830B-4E1B-9F0A-73A66F49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845"/>
          </a:solidFill>
          <a:ln xmlns:a="http://schemas.openxmlformats.org/drawingml/2006/main" w="0">
            <a:solidFill>
              <a:srgbClr val="C958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DC036-F216-4D49-AD12-870FDF94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SUSTAIN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6DE84-5900-4740-9524-1F2B35D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Keep cadence and retained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learning in Process Hub.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2031D-26EB-42C7-B0CC-F57AF0AB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ACA6F-331B-43FD-9B15-50715583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The workflow is a path from uncertainty to verified learning.</a:t>
            </a:r>
          </a:p>
        </p:txBody>
      </p:sp>
    </p:spTree>
    <p:extLst>
      <p:ext uri="{BB962C8B-B14F-4D97-AF65-F5344CB8AC3E}">
        <p14:creationId xmlns:p14="http://schemas.microsoft.com/office/powerpoint/2010/main" val="3940317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B3A6B-078B-4064-9A21-2535CC4D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INSTRUMENT 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5A645-5AE4-467B-BCCA-FDE1D3B0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14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BE493-6E81-4918-B574-B8A5BE9B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87CDA-C7B4-4DF0-A2EF-239FBBD0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Expose instruments, not disconnected apps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C2403-205D-46C4-9195-7DDDDD6E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 user chooses a process question. The system suggests the evidence instruments.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DC286-4798-497C-8E07-E5E10B76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8FA99-9060-4179-BADA-877B04E5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234C8-4D74-4D15-B33A-C59C6DD0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Capability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C342F-0C5B-45CF-A841-CDC96F7D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Spec limits, Cp/Cpk,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conformance, subgroup capability.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F81FB-D6F6-49B5-8342-7870ACD1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59B5C-234A-4546-9917-104A157D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2B859-89DD-4D19-BF53-C7ECF427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Defect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26586-D1BE-46B4-B22B-2A736005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Pareto and burden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concentration.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8C780-D832-4864-B78C-2502BFF6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72440-E914-4B6E-AF16-33643430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70"/>
          </a:solidFill>
          <a:ln xmlns:a="http://schemas.openxmlformats.org/drawingml/2006/main" w="0">
            <a:solidFill>
              <a:srgbClr val="087C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CCC80-A6CB-48F2-8790-002D43D5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Standard EDA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6AB01-1103-4B32-9462-9ED38308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I-chart, boxplot,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ANOVA, probability.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AAD96F-4834-42F0-A2F4-449A6709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4E36B-E204-479B-8461-F46B509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These are method lenses over the same process evidence.</a:t>
            </a:r>
          </a:p>
        </p:txBody>
      </p:sp>
    </p:spTree>
    <p:extLst>
      <p:ext uri="{BB962C8B-B14F-4D97-AF65-F5344CB8AC3E}">
        <p14:creationId xmlns:p14="http://schemas.microsoft.com/office/powerpoint/2010/main" val="13092952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03D7B-4FA2-44C4-9509-CA762E87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INSTRUMENT 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A9EB4-63B1-4C84-B92F-84311C36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15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DA3FD-F87C-42AF-807B-3BBF9D34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577EE-F56A-449D-95D1-6E8A89CA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Instrument maturity should be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C98FC-C398-4F32-BF84-27A45AAC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MBBs will ask what is implemented now versus designed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7E834-62C4-49CB-B837-3C2BDC7F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2F833-FE49-44BE-BE65-5AF68437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22191-E0D3-40A6-97BC-D510522E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Cp/Cpk, conformance, subgroup capability.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4A781-F2FC-4F21-8DC5-61895397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4759A-E561-4B63-8A76-93D787BA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956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3F5BA-09A1-4914-9E53-F0757A3B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BD225-E463-4951-ADB3-BB642239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0E0CA-58E8-49C9-AAD3-E5C13CF3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Cycle time, bottlenecks, process moments.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A5D7D-0C54-49CF-A5F8-D7332940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956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85661-CFD4-4709-95A7-FD29282F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814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8E320-78F0-4D54-A03E-7DEDDFA2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DFBF7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8962A-F2EC-422D-800D-5A24532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Yamazumi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37B05-24A3-43B1-A369-11F5E7E0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2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Workload balance and step-level burden.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5C6947-E7CF-4C17-BC94-48576750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814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3FFFC-9BF7-4E31-8883-C0D7EEEE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672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8D67F2-E102-4073-9B68-E3A3CBF4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629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7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7069C-D071-4683-9647-8C8EAA20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7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923"/>
                </a:solidFill>
              </a:defRPr>
            </a:pPr>
            <a:r>
              <a:rPr sz="1725" b="1">
                <a:solidFill>
                  <a:srgbClr val="111923"/>
                </a:solidFill>
              </a:rPr>
              <a:t>Survey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0DB2FF-2B84-4BDB-A1FD-6EA55F27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14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0505C"/>
                </a:solidFill>
              </a:defRPr>
            </a:pPr>
            <a:r>
              <a:rPr sz="1650" b="0">
                <a:solidFill>
                  <a:srgbClr val="40505C"/>
                </a:solidFill>
              </a:rPr>
              <a:t>Possibility, power, and trust readiness.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D3AC4-D09D-40EC-8C38-8A3C7CDE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67275"/>
            <a:ext cx="1428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85FBBF-10DE-4264-B927-A62A33BA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Implemented</a:t>
            </a:r>
          </a:p>
        </p:txBody>
      </p:sp>
    </p:spTree>
    <p:extLst>
      <p:ext uri="{BB962C8B-B14F-4D97-AF65-F5344CB8AC3E}">
        <p14:creationId xmlns:p14="http://schemas.microsoft.com/office/powerpoint/2010/main" val="12108823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95043-70DB-4433-9C67-4FD5F492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STATS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63D0F-62F2-4201-8D24-D89F3D07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16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1BBC6-E290-4F01-B9A7-B21E1210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D0F55-C76E-4936-A329-9C74068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What the stats engine calculates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D3B05-EBD9-4BEA-9A28-33F32FF2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Deterministic calculations are the authority.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35F96-C334-46B7-895C-DAA57B4B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7654F-9348-4A56-83EF-E2792308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6A7CB-906C-4FAA-B18F-09107802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Process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94D64-70C3-4D18-8F98-34BEBF3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Mean, median, sigma,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moving range, UCL/LCL.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C822C-B2DE-48CA-AB47-7B2DC450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5EA74-3471-469A-A25B-9354352E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70"/>
          </a:solidFill>
          <a:ln xmlns:a="http://schemas.openxmlformats.org/drawingml/2006/main" w="0">
            <a:solidFill>
              <a:srgbClr val="087C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ABD4E-AAA1-4EBE-B972-3D2C97DC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Distribution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54156-6E4F-414E-B588-98E15E0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Boxplot, outliers,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probability plot, KDE.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FF519-7394-4CA0-961E-EDA659DC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D6178-FF52-42D6-A215-E4B35D7D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F443A-7625-4D16-B72C-1EE75108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Capability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56BE0-D154-48EF-9F45-570D8206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Cp, Cpk, conformance,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staged and subgroup capability.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5B5A3-3D37-4356-AD1F-AD529F50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4741F-56F4-41F8-A2F3-25B00797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AI can explain. It cannot invent statistical facts.</a:t>
            </a:r>
          </a:p>
        </p:txBody>
      </p:sp>
    </p:spTree>
    <p:extLst>
      <p:ext uri="{BB962C8B-B14F-4D97-AF65-F5344CB8AC3E}">
        <p14:creationId xmlns:p14="http://schemas.microsoft.com/office/powerpoint/2010/main" val="633609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837D7-3C47-4E52-A93C-97CD111C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STATS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91401-9FC8-4A49-ABE5-19B44D95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17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6C07F-A19C-44B3-84E8-80CFEBDB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CFDB2-42B2-4186-B32F-4F446635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How calculations become investigation signals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554EB-0352-4670-8172-589E2095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The product turns evidence into clues, questions, and verification signals.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E16A7-FC47-4CF8-AFAC-D8BB18FE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953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6155A-E01F-42F0-8B8E-CF40934C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95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57EFF-82AA-4E1C-A4CD-FA2DED1C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923"/>
                </a:solidFill>
              </a:defRPr>
            </a:pPr>
            <a:r>
              <a:rPr sz="2025" b="1">
                <a:solidFill>
                  <a:srgbClr val="111923"/>
                </a:solidFill>
              </a:rPr>
              <a:t>Variation drivers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CE6DF-8FD9-4BC0-A28A-6DEE5349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F6FF6-B595-49B8-98C8-5E73D937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384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276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80D4F-ED76-4E5C-9C08-402F1252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ANOVA, eta², R²adj,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Type III SS, best subsets,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and interaction screening.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27B25-35D8-49F8-AB94-33E84DEF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4953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AC125-A223-43A4-B30A-8284B936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95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0C8D8-1F62-4E55-AFA0-A0EC83A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923"/>
                </a:solidFill>
              </a:defRPr>
            </a:pPr>
            <a:r>
              <a:rPr sz="2025" b="1">
                <a:solidFill>
                  <a:srgbClr val="111923"/>
                </a:solidFill>
              </a:rPr>
              <a:t>Evidence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1DBF1-1D4B-4CEC-AFEB-CC1ACF8C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527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7C62F-A85E-45F4-9DE9-5B4C8412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276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9B33C-684F-4F3F-92CA-DD423B70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0520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Clean data → choose instrument → compute evidence → expose caution → create clue or next question.</a:t>
            </a:r>
          </a:p>
        </p:txBody>
      </p:sp>
    </p:spTree>
    <p:extLst>
      <p:ext uri="{BB962C8B-B14F-4D97-AF65-F5344CB8AC3E}">
        <p14:creationId xmlns:p14="http://schemas.microsoft.com/office/powerpoint/2010/main" val="8793277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85D52-FDB7-4A4D-A177-9F54FF82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MEASUREMENT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34FCB-3851-4BF5-8534-5206E3D9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18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7E98D-8242-4BA4-8BDB-8DC34111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BAB04-FBCF-4A73-B9E9-5911AC7F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MSA starts as measurement trust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E4724-8C2D-42CB-B03B-70CEDD9D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Before acting, the team must know whether the signal is measurable and operationally defined.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DD604-72C4-4E7F-968A-8DAD3550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953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E5BD3-9343-4D8A-93B8-5799E5CC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95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DBFAF-1359-49EE-B205-E7595AED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923"/>
                </a:solidFill>
              </a:defRPr>
            </a:pPr>
            <a:r>
              <a:rPr sz="2025" b="1">
                <a:solidFill>
                  <a:srgbClr val="111923"/>
                </a:solidFill>
              </a:rPr>
              <a:t>Current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20538-1892-4F04-B976-BC41C0B8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5E842-29CF-47BD-86A4-96EC26B5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384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276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B3773-F699-4D32-B90E-32C5E746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Signal cards capture operational definition, trust grade, power status, study status, weak link, and next move.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8692D-7CC2-4D4E-BADE-C2108E28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4953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43683-A69B-478F-A61B-A6C5F2A8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95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094D1-A57F-4862-AB1A-39BEE219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923"/>
                </a:solidFill>
              </a:defRPr>
            </a:pPr>
            <a:r>
              <a:rPr sz="2025" b="1">
                <a:solidFill>
                  <a:srgbClr val="111923"/>
                </a:solidFill>
              </a:rPr>
              <a:t>User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44FE7-6CF1-41B1-A622-788B805D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527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2C508-B049-4161-B13B-14AC8CEE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276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52AB8-5D05-4E67-9CA8-3632E203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0520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Can the same part be remeasured?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Is the measure destructive?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Who measures, with what procedure?</a:t>
            </a:r>
          </a:p>
        </p:txBody>
      </p:sp>
    </p:spTree>
    <p:extLst>
      <p:ext uri="{BB962C8B-B14F-4D97-AF65-F5344CB8AC3E}">
        <p14:creationId xmlns:p14="http://schemas.microsoft.com/office/powerpoint/2010/main" val="17654246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F3A83-3004-45C8-862A-1B2EF708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MSA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E8133-3E1D-4480-AF85-E0F42349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19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37459-2961-4E94-96EE-56E521B5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60BD4-A58B-4969-A749-B79A328A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Full Gage R&amp;R is a next-stage 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EECB2-CDAF-4134-9E88-855CDDA0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This boundary keeps the product statistically credible.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C17A6-DC7B-4B39-A243-6F767F71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953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151EC-B835-49F6-B402-74135C76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95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EFBB2-7F89-48A7-AF7D-1C971F7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923"/>
                </a:solidFill>
              </a:defRPr>
            </a:pPr>
            <a:r>
              <a:rPr sz="2025" b="1">
                <a:solidFill>
                  <a:srgbClr val="111923"/>
                </a:solidFill>
              </a:rPr>
              <a:t>Current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0CB87-17F5-4469-80C6-C43A166C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461D5-81DF-4EBB-8E67-A26401FD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384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276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A0D47-BCA0-40A5-998D-14C51D5D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Measurement trust guidance.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Operational definition checks.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Next measurement move.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E3071-A4AE-4CAB-9F18-B36560EE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4953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971D8-8CD2-4A4B-9F8F-E106F299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95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091E7-5E64-4631-8BF6-109AB03E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3181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923"/>
                </a:solidFill>
              </a:defRPr>
            </a:pPr>
            <a:r>
              <a:rPr sz="2025" b="1">
                <a:solidFill>
                  <a:srgbClr val="111923"/>
                </a:solidFill>
              </a:rPr>
              <a:t>Deferred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83BCC-9E94-4AD5-9AE3-76010404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52750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33A34"/>
          </a:solidFill>
          <a:ln xmlns:a="http://schemas.openxmlformats.org/drawingml/2006/main" w="0">
            <a:solidFill>
              <a:srgbClr val="A33A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CA48C-2161-4761-B20C-88BC4A3E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Deferred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E57A8-662B-4131-B719-1D27EFF4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05200"/>
            <a:ext cx="4419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Full Gage R&amp;R / MSA with %Tolerance, NDC, F-tests, charts, and confidence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2794904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76D5E-6A3D-489A-9AB9-391EC839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POWER AND SAMPLE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AE11D-85EC-4CC0-8E2C-D3DBD2DA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20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050E6-F809-4DDD-A20F-56638A62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2396D-B945-44E9-9776-0CD5AB93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Power protects teams from false confidence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9C144-93FE-423C-A39D-4D175D67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No observed effect is not the same as enough evidence to detect the effect.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5A97B-6DD1-4B8E-8F94-232953D1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F680F-4908-4E59-A16A-B071BA0A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256E9-B3A5-4AC8-9026-30915A78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Advisory power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EE3B6-6888-41EE-9B89-1AC1EEAF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Dataset size, subgroup/time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coverage, counter-checks.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ED435-A183-43E6-BF7F-281B49C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60882-F320-4A12-A423-444E7B88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F19C5-E164-46E3-8673-0E5786C6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User-facing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00B86-14B4-469D-A864-26D2BE1D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POWER OK, UNDER-POWERED,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or BLIND SPOT.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69967-45B3-4EAF-9542-D4893B4C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4FBD4-757C-4408-A619-25787AF4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41DA0-FBF2-40F5-9701-D171D6FF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Next capability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983E7-1F9A-4444-8BD6-1C0CFA18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Formal retrospective power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and sample-size planning.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D4685-6E71-4B70-86DE-720FC7A5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3AA31-9097-40C7-9420-DCA33E6C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Use power language to bound conclusions, not to decorate analysis.</a:t>
            </a:r>
          </a:p>
        </p:txBody>
      </p:sp>
    </p:spTree>
    <p:extLst>
      <p:ext uri="{BB962C8B-B14F-4D97-AF65-F5344CB8AC3E}">
        <p14:creationId xmlns:p14="http://schemas.microsoft.com/office/powerpoint/2010/main" val="7189956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7C16-1F28-45E6-A5F5-A576A798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READINESS +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DE0BA-FD61-49BC-8A19-F81FEAFB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21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2991C-D942-4C99-B793-1445D076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45DB1-DC90-40ED-84B1-1CDCC698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Survey and surfaces keep decisions bounded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2DA72-EB0D-466E-A882-BB56E6C4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Readiness checks apply before analysis, during investigation, and before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0E416-F45B-46FC-956E-B4F5A79F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E54F6-3EE6-405E-B0CA-A4EE56A7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70"/>
          </a:solidFill>
          <a:ln xmlns:a="http://schemas.openxmlformats.org/drawingml/2006/main" w="0">
            <a:solidFill>
              <a:srgbClr val="087C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C0292-5E90-4C3A-94A4-3FB59018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Survey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8720E-7F59-4ABE-AF7C-8BB225C5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Possibility, power,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and trust checks.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FEF4C-016B-43F3-A128-A1183C0C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AA9DC-50DD-4D95-B704-6A4D57CF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A8"/>
          </a:solidFill>
          <a:ln xmlns:a="http://schemas.openxmlformats.org/drawingml/2006/main" w="0">
            <a:solidFill>
              <a:srgbClr val="245F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70A46-1017-48FD-8F1C-1D7EC1C3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Evidence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F9F3A-E174-4A52-A0A8-66175268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Candidate Xs,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effect size, caution.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B92BC-CDA2-433E-A369-C473B26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79A09-8E34-4007-B692-E67B4D1C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0A8"/>
          </a:solidFill>
          <a:ln xmlns:a="http://schemas.openxmlformats.org/drawingml/2006/main" w="0">
            <a:solidFill>
              <a:srgbClr val="5B50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6FB39-54E9-46F2-80BA-CD95F5BD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Investigation Wall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FCFDC-F2D1-4BAD-8CE2-BA868A8A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Mechanism branches,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clues, comments, actions.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5B972-6319-4C8E-ACB3-FD3276E6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BCC0A-66D3-4FDF-AC70-FC71D1F7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0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A clue should move from chart evidence to branch reasoning to verified action without losing context.</a:t>
            </a:r>
          </a:p>
        </p:txBody>
      </p:sp>
    </p:spTree>
    <p:extLst>
      <p:ext uri="{BB962C8B-B14F-4D97-AF65-F5344CB8AC3E}">
        <p14:creationId xmlns:p14="http://schemas.microsoft.com/office/powerpoint/2010/main" val="17042951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7397AB-813D-4D22-9C8B-541432FDE7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10CB1-016D-4A74-A2A3-3545F24C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4F49"/>
                </a:solidFill>
              </a:defRPr>
            </a:pPr>
            <a:r>
              <a:rPr sz="1275" b="1">
                <a:solidFill>
                  <a:srgbClr val="064F49"/>
                </a:solidFill>
              </a:rPr>
              <a:t>PRODUCT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FBD01-4D0D-496C-9EBB-31D37FA6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0505C"/>
                </a:solidFill>
              </a:defRPr>
            </a:pPr>
            <a:r>
              <a:rPr sz="1200" b="0">
                <a:solidFill>
                  <a:srgbClr val="40505C"/>
                </a:solidFill>
              </a:rPr>
              <a:t>22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769C9-AE5D-4529-AE2A-A4FC520B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DD"/>
          </a:solidFill>
          <a:ln xmlns:a="http://schemas.openxmlformats.org/drawingml/2006/main" w="0">
            <a:solidFill>
              <a:srgbClr val="CBD7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C703F-2A8C-4CB1-A078-A1D12C4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923"/>
                </a:solidFill>
              </a:defRPr>
            </a:pPr>
            <a:r>
              <a:rPr sz="2925" b="1">
                <a:solidFill>
                  <a:srgbClr val="111923"/>
                </a:solidFill>
              </a:rPr>
              <a:t>Evaluate the habit, then prove it narrowly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225F8-F9AE-456B-AF9D-7AE0B13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 world-class product team judges the loop, not just the feature inventory.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00013-AB0B-4109-95AB-FCD32238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B91E7-0AEE-40FD-803B-2CCE88C7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7A14"/>
          </a:solidFill>
          <a:ln xmlns:a="http://schemas.openxmlformats.org/drawingml/2006/main" w="0">
            <a:solidFill>
              <a:srgbClr val="B47A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9CCE4-105D-4B41-A180-D94A1B31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Decision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43C3C-0079-4873-8E77-CCECB2E2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Are conclusions bounded by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trust, power, and verification?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154CB-ECFB-45DC-90A5-8E030DC8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9E82D-3DCA-4A58-B716-A90F1A36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4"/>
          </a:solidFill>
          <a:ln xmlns:a="http://schemas.openxmlformats.org/drawingml/2006/main" w="0">
            <a:solidFill>
              <a:srgbClr val="A33A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265E5-D61E-4922-B3AF-A271B595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Method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D67EA-AF11-4D2D-ABC5-DDDC0A3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Do not overclaim MSA,</a:t>
            </a:r>
          </a:p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power math, or causality.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681C5-2AAE-4749-9300-6E6EDA74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3147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7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117E3-6AB5-4D39-A09F-3ACB1FD6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95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70"/>
          </a:solidFill>
          <a:ln xmlns:a="http://schemas.openxmlformats.org/drawingml/2006/main" w="0">
            <a:solidFill>
              <a:srgbClr val="087C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5FAE1-47AC-4FAD-A37F-6CB16AB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923"/>
                </a:solidFill>
              </a:defRPr>
            </a:pPr>
            <a:r>
              <a:rPr sz="2100" b="1">
                <a:solidFill>
                  <a:srgbClr val="111923"/>
                </a:solidFill>
              </a:rPr>
              <a:t>Next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5DDF8-D3CB-4B2C-AAED-7F0D4B70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05200"/>
            <a:ext cx="27813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0505C"/>
                </a:solidFill>
              </a:defRPr>
            </a:pPr>
            <a:r>
              <a:rPr sz="1800" b="0">
                <a:solidFill>
                  <a:srgbClr val="40505C"/>
                </a:solidFill>
              </a:rPr>
              <a:t>Recurring evidence → weekly review → verified action → retained learning.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C9040-4D42-43C5-95A7-9E8A347E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0"/>
          </a:solidFill>
          <a:ln xmlns:a="http://schemas.openxmlformats.org/drawingml/2006/main" w="13335">
            <a:solidFill>
              <a:srgbClr val="9FCF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FA66B-990E-4757-B020-A0717F2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0"/>
            <a:ext cx="975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F49"/>
                </a:solidFill>
              </a:defRPr>
            </a:pPr>
            <a:r>
              <a:rPr sz="1650" b="1">
                <a:solidFill>
                  <a:srgbClr val="064F49"/>
                </a:solidFill>
              </a:rPr>
              <a:t>Value proof: faster focus, better bounded decisions, verified action, and retained learning.</a:t>
            </a:r>
          </a:p>
        </p:txBody>
      </p:sp>
    </p:spTree>
    <p:extLst>
      <p:ext uri="{BB962C8B-B14F-4D97-AF65-F5344CB8AC3E}">
        <p14:creationId xmlns:p14="http://schemas.microsoft.com/office/powerpoint/2010/main" val="233373061"/>
      </p:ext>
    </p:extLst>
  </p:cSld>
</p:sld>
</file>

<file path=ppt/theme/theme1.xml><?xml version="1.0" encoding="utf-8"?>
<a:theme xmlns:a="http://schemas.openxmlformats.org/drawingml/2006/main" name="VariScout Product Evaluation Accessible">
  <a:themeElements>
    <a:clrScheme name="VariScout Product Evaluation Accessible">
      <a:accent1>
        <a:srgbClr val="087C70"/>
      </a:accent1>
      <a:accent2>
        <a:srgbClr val="245FA8"/>
      </a:accent2>
      <a:accent3>
        <a:srgbClr val="B47A14"/>
      </a:accent3>
      <a:accent4>
        <a:srgbClr val="C95845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ariScout Product Evaluation Accessibl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2026-04-27T05:47:42.4280000Z</dcterms:created>
  <dcterms:modified xsi:type="dcterms:W3CDTF">2026-04-27T05:47:42.4280000Z</dcterms:modified>
</coreProperties>
</file>